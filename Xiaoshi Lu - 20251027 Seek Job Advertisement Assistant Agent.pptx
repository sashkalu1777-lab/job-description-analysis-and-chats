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Maven Pro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145B2D-5D8F-46D8-8196-DF7A36DA25A9}">
  <a:tblStyle styleId="{C7145B2D-5D8F-46D8-8196-DF7A36DA25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5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4.xml"/><Relationship Id="rId32" Type="http://schemas.openxmlformats.org/officeDocument/2006/relationships/font" Target="fonts/Nunito-italic.fntdata"/><Relationship Id="rId13" Type="http://schemas.openxmlformats.org/officeDocument/2006/relationships/slide" Target="slides/slide7.xml"/><Relationship Id="rId35" Type="http://schemas.openxmlformats.org/officeDocument/2006/relationships/font" Target="fonts/MavenPro-bold.fntdata"/><Relationship Id="rId12" Type="http://schemas.openxmlformats.org/officeDocument/2006/relationships/slide" Target="slides/slide6.xml"/><Relationship Id="rId34" Type="http://schemas.openxmlformats.org/officeDocument/2006/relationships/font" Target="fonts/MavenPro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d2b1ba0f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d2b1ba0f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d2b1ba0f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9d2b1ba0f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d2b1ba0fb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d2b1ba0f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d2b1ba0fb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d2b1ba0f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d2b1ba0fb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9d2b1ba0fb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d2b1ba0fb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d2b1ba0fb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d2b1ba0fb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d2b1ba0fb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d2b1ba0fb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d2b1ba0fb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d2b1ba0fb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d2b1ba0f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d2b1ba0fb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9d2b1ba0fb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d2b1ba0fb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d2b1ba0fb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d2b1ba0fb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9d2b1ba0fb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d2b1ba0fb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d2b1ba0fb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d2b1ba0fb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9d2b1ba0fb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d2b1ba0fb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d2b1ba0fb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d2b1ba0f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9d2b1ba0f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d2b1ba0fb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9d2b1ba0fb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d2b1ba0fb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d2b1ba0fb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d2b1ba0fb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9d2b1ba0fb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d2b1ba0fb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9d2b1ba0fb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d2b1ba0fb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9d2b1ba0fb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9d2b1ba0fb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9d2b1ba0fb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eek.com.au/about/news/article/seek-employment-report-september25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codersbrain.com/agentic-ai-the-future-of-autonomous-decision-making-systems/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seek.com.au/job/88092005?ref=recom-homepage&amp;pos=1&amp;origin=jobTitle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sashkalu1777-lab/job-description-analysis/blob/main/job-description-logs/loop_test_full_20251025_201551.csv" TargetMode="External"/><Relationship Id="rId4" Type="http://schemas.openxmlformats.org/officeDocument/2006/relationships/hyperlink" Target="https://github.com/sashkalu1777-lab/job-description-analysis/blob/main/client-help-logs/client-help_20251025_221907.csv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loud.langfuse.com/project/cmezatd2401lvad07xa8rkcmy/traces?pageIndex=2&amp;pageSize=5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sashkalu1777-lab/job-description-analysis/tree/main" TargetMode="External"/><Relationship Id="rId4" Type="http://schemas.openxmlformats.org/officeDocument/2006/relationships/hyperlink" Target="https://docs.google.com/spreadsheets/d/1wESnb7ZCLMXc501PQu-KrAMJ63V5ks8PtWpGv9pgGis/edit?usp=sharin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Seek Job Advertisement Assistant Agent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2025-10-27 by Xiaoshi Lu (Alexandra)</a:t>
            </a:r>
            <a:endParaRPr/>
          </a:p>
        </p:txBody>
      </p:sp>
      <p:sp>
        <p:nvSpPr>
          <p:cNvPr id="279" name="Google Shape;279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Table of Contents</a:t>
            </a:r>
            <a:endParaRPr>
              <a:solidFill>
                <a:schemeClr val="accent3"/>
              </a:solidFill>
            </a:endParaRPr>
          </a:p>
        </p:txBody>
      </p:sp>
      <p:graphicFrame>
        <p:nvGraphicFramePr>
          <p:cNvPr id="285" name="Google Shape;285;p14"/>
          <p:cNvGraphicFramePr/>
          <p:nvPr/>
        </p:nvGraphicFramePr>
        <p:xfrm>
          <a:off x="1303200" y="18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{C7145B2D-5D8F-46D8-8196-DF7A36DA25A9}</a:tableStyleId>
              </a:tblPr>
              <a:tblGrid>
                <a:gridCol w="2847525"/>
                <a:gridCol w="4391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1. Business Background and Scope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___________________________________________ 03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2. Data Sources and Analysis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___________________________________________ 06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3. Agent Design and Settings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___________________________________________ 10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4. Demo and Outputs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___________________________________________ 15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5. Further Improvements and Plans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___________________________________________ 18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6. Resources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___________________________________________ 20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7. Conclusion and Questions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200">
                          <a:solidFill>
                            <a:schemeClr val="accent3"/>
                          </a:solidFill>
                        </a:rPr>
                        <a:t>___________________________________________ 22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Business Background and Scope</a:t>
            </a:r>
            <a:endParaRPr/>
          </a:p>
        </p:txBody>
      </p:sp>
      <p:sp>
        <p:nvSpPr>
          <p:cNvPr id="292" name="Google Shape;292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Both employers and job seekers need assistance for job advertisement on Seek.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800000"/>
            <a:ext cx="7030500" cy="22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>
                <a:solidFill>
                  <a:schemeClr val="accent3"/>
                </a:solidFill>
              </a:rPr>
              <a:t>There are around 16k ~ 20k job advertisements on Seek. Every months there are millions of visits from employers / recruiters and job seekers.</a:t>
            </a:r>
            <a:endParaRPr>
              <a:solidFill>
                <a:schemeClr val="accent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>
                <a:solidFill>
                  <a:schemeClr val="accent3"/>
                </a:solidFill>
              </a:rPr>
              <a:t>Job advertisements are the base of resources that support the service of Seek, especially the recommendation system for both sides of customers to improve their customer experience.</a:t>
            </a:r>
            <a:endParaRPr>
              <a:solidFill>
                <a:schemeClr val="accent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>
                <a:solidFill>
                  <a:schemeClr val="accent3"/>
                </a:solidFill>
              </a:rPr>
              <a:t>However, in reality, many job advertisements or job seek profiles are vague, incomplete, or inconcise, which creates challenges for Seek customers.</a:t>
            </a:r>
            <a:endParaRPr>
              <a:solidFill>
                <a:schemeClr val="accent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>
                <a:solidFill>
                  <a:schemeClr val="accent3"/>
                </a:solidFill>
              </a:rPr>
              <a:t>With the cutting-edge techniques such as LLMs and Agentic AI building, there is an opportunity to explore the headroom to help customers with intelligent assistant.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5018650" y="4588825"/>
            <a:ext cx="33156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Reference: </a:t>
            </a:r>
            <a:r>
              <a:rPr b="1" lang="zh-CN" sz="900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Seek Employment Report 2025 September</a:t>
            </a: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9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solidFill>
                  <a:schemeClr val="accent3"/>
                </a:solidFill>
              </a:rPr>
              <a:t>Using AI to improve job advertisement content analysis is the starting point to improve recommendation system.</a:t>
            </a:r>
            <a:endParaRPr sz="2020">
              <a:solidFill>
                <a:schemeClr val="accent3"/>
              </a:solidFill>
            </a:endParaRPr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1303800" y="1800000"/>
            <a:ext cx="4280400" cy="22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>
                <a:solidFill>
                  <a:schemeClr val="accent3"/>
                </a:solidFill>
              </a:rPr>
              <a:t>Job advertisements usually provide key information including required skills, expected responsibilities, and other requirements.</a:t>
            </a:r>
            <a:endParaRPr>
              <a:solidFill>
                <a:schemeClr val="accent3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○"/>
            </a:pPr>
            <a:r>
              <a:rPr lang="zh-CN">
                <a:solidFill>
                  <a:schemeClr val="accent3"/>
                </a:solidFill>
              </a:rPr>
              <a:t>Agentic AI with LLMs can provide more proactive solutions to solve the problem.</a:t>
            </a:r>
            <a:endParaRPr>
              <a:solidFill>
                <a:schemeClr val="accent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>
                <a:solidFill>
                  <a:schemeClr val="accent3"/>
                </a:solidFill>
              </a:rPr>
              <a:t>The outputs for the above project can support the building of the whole recommendation system, especially the downstream parts:</a:t>
            </a:r>
            <a:endParaRPr>
              <a:solidFill>
                <a:schemeClr val="accent3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○"/>
            </a:pPr>
            <a:r>
              <a:rPr lang="zh-CN">
                <a:solidFill>
                  <a:schemeClr val="accent3"/>
                </a:solidFill>
              </a:rPr>
              <a:t>Help employers improve job advertisements.</a:t>
            </a:r>
            <a:endParaRPr>
              <a:solidFill>
                <a:schemeClr val="accent3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○"/>
            </a:pPr>
            <a:r>
              <a:rPr lang="zh-CN">
                <a:solidFill>
                  <a:schemeClr val="accent3"/>
                </a:solidFill>
              </a:rPr>
              <a:t>Help job seeks to find the suitable opportunities.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4533925" y="4588825"/>
            <a:ext cx="38004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Image </a:t>
            </a: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Reference: </a:t>
            </a:r>
            <a:r>
              <a:rPr b="1" lang="zh-CN" sz="900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Coders Brain: How Does Agentic AI Work?</a:t>
            </a: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9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8" name="Google Shape;3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5025" y="1800000"/>
            <a:ext cx="2489274" cy="206098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Sources and Analysis</a:t>
            </a:r>
            <a:endParaRPr/>
          </a:p>
        </p:txBody>
      </p:sp>
      <p:sp>
        <p:nvSpPr>
          <p:cNvPr id="315" name="Google Shape;315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The 50k job advertisements in the database are already structured.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5018650" y="4588825"/>
            <a:ext cx="33156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Image </a:t>
            </a: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Reference: </a:t>
            </a:r>
            <a:r>
              <a:rPr b="1" lang="zh-CN" sz="900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Senior Data Scientist</a:t>
            </a: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zh-CN" sz="9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9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2" name="Google Shape;3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200" y="1800000"/>
            <a:ext cx="2353353" cy="26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9"/>
          <p:cNvSpPr txBox="1"/>
          <p:nvPr/>
        </p:nvSpPr>
        <p:spPr>
          <a:xfrm>
            <a:off x="4249125" y="1704150"/>
            <a:ext cx="8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Job Title</a:t>
            </a:r>
            <a:endParaRPr b="1"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1222325" y="2960950"/>
            <a:ext cx="2306100" cy="15651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4249125" y="4044275"/>
            <a:ext cx="8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Content</a:t>
            </a:r>
            <a:endParaRPr b="1"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6" name="Google Shape;326;p19"/>
          <p:cNvCxnSpPr/>
          <p:nvPr/>
        </p:nvCxnSpPr>
        <p:spPr>
          <a:xfrm>
            <a:off x="2056425" y="1859850"/>
            <a:ext cx="2192700" cy="11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19"/>
          <p:cNvCxnSpPr/>
          <p:nvPr/>
        </p:nvCxnSpPr>
        <p:spPr>
          <a:xfrm>
            <a:off x="2306625" y="2248625"/>
            <a:ext cx="1942500" cy="8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19"/>
          <p:cNvCxnSpPr/>
          <p:nvPr/>
        </p:nvCxnSpPr>
        <p:spPr>
          <a:xfrm>
            <a:off x="3646238" y="4202825"/>
            <a:ext cx="577200" cy="6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19"/>
          <p:cNvSpPr/>
          <p:nvPr/>
        </p:nvSpPr>
        <p:spPr>
          <a:xfrm>
            <a:off x="5730300" y="3418725"/>
            <a:ext cx="2604000" cy="909900"/>
          </a:xfrm>
          <a:prstGeom prst="wedgeEllipseCallout">
            <a:avLst>
              <a:gd fmla="val -78018" name="adj1"/>
              <a:gd fmla="val 40123" name="adj2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Detailed description of required skills and </a:t>
            </a:r>
            <a:r>
              <a:rPr lang="zh-CN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responsibilities</a:t>
            </a:r>
            <a:r>
              <a:rPr lang="zh-CN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5730300" y="2248625"/>
            <a:ext cx="2604000" cy="909900"/>
          </a:xfrm>
          <a:prstGeom prst="wedgeEllipseCallout">
            <a:avLst>
              <a:gd fmla="val -67332" name="adj1"/>
              <a:gd fmla="val -38452" name="adj2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Classification, Sub-classification, Area, Location, and Work Type, etc.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1" name="Google Shape;331;p19"/>
          <p:cNvSpPr txBox="1"/>
          <p:nvPr/>
        </p:nvSpPr>
        <p:spPr>
          <a:xfrm>
            <a:off x="4339950" y="2133525"/>
            <a:ext cx="958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Metadata</a:t>
            </a:r>
            <a:endParaRPr b="1"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solidFill>
                  <a:schemeClr val="accent3"/>
                </a:solidFill>
              </a:rPr>
              <a:t>After preprocessing and EDA, t</a:t>
            </a:r>
            <a:r>
              <a:rPr lang="zh-CN" sz="2020">
                <a:solidFill>
                  <a:schemeClr val="accent3"/>
                </a:solidFill>
              </a:rPr>
              <a:t>here are 30 classifications/industries. Each has different popular key words.</a:t>
            </a:r>
            <a:endParaRPr sz="2020">
              <a:solidFill>
                <a:schemeClr val="accent3"/>
              </a:solidFill>
            </a:endParaRPr>
          </a:p>
        </p:txBody>
      </p:sp>
      <p:pic>
        <p:nvPicPr>
          <p:cNvPr id="338" name="Google Shape;3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337" y="1869750"/>
            <a:ext cx="3586975" cy="18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 title="图表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200" y="1800000"/>
            <a:ext cx="3182652" cy="197397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0"/>
          <p:cNvSpPr/>
          <p:nvPr/>
        </p:nvSpPr>
        <p:spPr>
          <a:xfrm>
            <a:off x="1303800" y="3960000"/>
            <a:ext cx="7337700" cy="592200"/>
          </a:xfrm>
          <a:prstGeom prst="horizontalScroll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For future scalability, classification is a good variable to divide resources.</a:t>
            </a:r>
            <a:endParaRPr b="1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4747425" y="1638000"/>
            <a:ext cx="3587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900">
                <a:solidFill>
                  <a:srgbClr val="76A5AF"/>
                </a:solidFill>
                <a:latin typeface="Nunito"/>
                <a:ea typeface="Nunito"/>
                <a:cs typeface="Nunito"/>
                <a:sym typeface="Nunito"/>
              </a:rPr>
              <a:t>Information &amp; Communication Technology Word Cloud</a:t>
            </a:r>
            <a:endParaRPr b="1" sz="900">
              <a:solidFill>
                <a:srgbClr val="76A5A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The overwhelming majority of the jobs locates in Australia and New Zealand.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348" name="Google Shape;348;p21" title="图表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200" y="1800000"/>
            <a:ext cx="3286416" cy="20321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1"/>
          <p:cNvSpPr txBox="1"/>
          <p:nvPr>
            <p:ph idx="1" type="body"/>
          </p:nvPr>
        </p:nvSpPr>
        <p:spPr>
          <a:xfrm>
            <a:off x="4572000" y="1800000"/>
            <a:ext cx="3762300" cy="22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</a:pPr>
            <a:r>
              <a:rPr lang="zh-CN" sz="1400">
                <a:solidFill>
                  <a:schemeClr val="accent3"/>
                </a:solidFill>
              </a:rPr>
              <a:t>Accordingly, English is the most popular job advertisement language.</a:t>
            </a:r>
            <a:endParaRPr sz="1400">
              <a:solidFill>
                <a:schemeClr val="accent3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</a:pPr>
            <a:r>
              <a:rPr lang="zh-CN" sz="1200">
                <a:solidFill>
                  <a:schemeClr val="accent3"/>
                </a:solidFill>
              </a:rPr>
              <a:t>However</a:t>
            </a:r>
            <a:r>
              <a:rPr lang="zh-CN" sz="1200">
                <a:solidFill>
                  <a:schemeClr val="accent3"/>
                </a:solidFill>
              </a:rPr>
              <a:t>, there are still few job advertisements from Middle East &amp; Asia, Europe &amp; Russia with non-English languages.</a:t>
            </a:r>
            <a:endParaRPr sz="1200">
              <a:solidFill>
                <a:schemeClr val="accent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</a:pPr>
            <a:r>
              <a:rPr lang="zh-CN" sz="1400">
                <a:solidFill>
                  <a:schemeClr val="accent3"/>
                </a:solidFill>
              </a:rPr>
              <a:t>70% of jobs are full-time opportunities.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350" name="Google Shape;350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Agent Design and Settings</a:t>
            </a:r>
            <a:endParaRPr/>
          </a:p>
        </p:txBody>
      </p:sp>
      <p:sp>
        <p:nvSpPr>
          <p:cNvPr id="356" name="Google Shape;356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320">
                <a:solidFill>
                  <a:schemeClr val="accent3"/>
                </a:solidFill>
              </a:rPr>
              <a:t>Build datasets based on given job advertisements for both training and validation. </a:t>
            </a:r>
            <a:endParaRPr sz="2320">
              <a:solidFill>
                <a:schemeClr val="accent3"/>
              </a:solidFill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1303200" y="1800000"/>
            <a:ext cx="2314500" cy="1986000"/>
          </a:xfrm>
          <a:prstGeom prst="ellipse">
            <a:avLst/>
          </a:prstGeom>
          <a:solidFill>
            <a:srgbClr val="A2C4C9"/>
          </a:solidFill>
          <a:ln cap="flat" cmpd="sng" w="8300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25" lIns="79625" spcFirstLastPara="1" rIns="79625" wrap="square" tIns="7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9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1779447" y="2471778"/>
            <a:ext cx="649200" cy="649200"/>
          </a:xfrm>
          <a:prstGeom prst="ellipse">
            <a:avLst/>
          </a:prstGeom>
          <a:solidFill>
            <a:srgbClr val="45818E"/>
          </a:solidFill>
          <a:ln cap="flat" cmpd="sng" w="830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625" lIns="79625" spcFirstLastPara="1" rIns="79625" wrap="square" tIns="7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9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64" name="Google Shape;364;p23"/>
          <p:cNvCxnSpPr>
            <a:stCxn id="363" idx="6"/>
            <a:endCxn id="365" idx="1"/>
          </p:cNvCxnSpPr>
          <p:nvPr/>
        </p:nvCxnSpPr>
        <p:spPr>
          <a:xfrm>
            <a:off x="2428647" y="2796378"/>
            <a:ext cx="1331400" cy="0"/>
          </a:xfrm>
          <a:prstGeom prst="straightConnector1">
            <a:avLst/>
          </a:prstGeom>
          <a:noFill/>
          <a:ln cap="flat" cmpd="sng" w="8300">
            <a:solidFill>
              <a:srgbClr val="45818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23"/>
          <p:cNvSpPr txBox="1"/>
          <p:nvPr/>
        </p:nvSpPr>
        <p:spPr>
          <a:xfrm>
            <a:off x="3760027" y="2655663"/>
            <a:ext cx="9930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625" lIns="79625" spcFirstLastPara="1" rIns="79625" wrap="square" tIns="79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32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Testing data</a:t>
            </a:r>
            <a:endParaRPr b="1" sz="1132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1890768" y="2024601"/>
            <a:ext cx="1139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625" lIns="79625" spcFirstLastPara="1" rIns="79625" wrap="square" tIns="79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32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Training data</a:t>
            </a:r>
            <a:endParaRPr b="1" sz="1132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5018875" y="1800000"/>
            <a:ext cx="3315600" cy="26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The testing data will be separated during the early development stage.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In future, it can be manually labelled to create a golden dataset.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will be valuable to prove the RoI of AI products.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is good to create a testing dataset where each classification has some samples based on the original percentage. (stratified sampling)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However, in this use case, we temporarily use typical random train-test splitting to save time.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8" name="Google Shape;368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220">
                <a:solidFill>
                  <a:schemeClr val="accent3"/>
                </a:solidFill>
              </a:rPr>
              <a:t>The following tools are used to build AI assistant for job advertisement analysis and consumption. </a:t>
            </a:r>
            <a:endParaRPr sz="2220">
              <a:solidFill>
                <a:schemeClr val="accent3"/>
              </a:solidFill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1267200" y="1800000"/>
            <a:ext cx="7067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</a:rPr>
              <a:t>Language Models: </a:t>
            </a:r>
            <a:r>
              <a:rPr lang="zh-CN" sz="1300">
                <a:solidFill>
                  <a:schemeClr val="accent3"/>
                </a:solidFill>
              </a:rPr>
              <a:t>GPT family </a:t>
            </a:r>
            <a:endParaRPr sz="1300">
              <a:solidFill>
                <a:schemeClr val="accent3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accent3"/>
                </a:solidFill>
              </a:rPr>
              <a:t>– popular, good performance.</a:t>
            </a:r>
            <a:endParaRPr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</a:rPr>
              <a:t>Frameworks:</a:t>
            </a:r>
            <a:r>
              <a:rPr lang="zh-CN" sz="1300">
                <a:solidFill>
                  <a:schemeClr val="accent3"/>
                </a:solidFill>
              </a:rPr>
              <a:t> LangChain + LangGraph</a:t>
            </a:r>
            <a:endParaRPr sz="1300">
              <a:solidFill>
                <a:schemeClr val="accent3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accent3"/>
                </a:solidFill>
              </a:rPr>
              <a:t>– compatible, open-source, memory and thread management, conditional control.</a:t>
            </a:r>
            <a:endParaRPr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</a:rPr>
              <a:t>Vector Store: </a:t>
            </a:r>
            <a:r>
              <a:rPr lang="zh-CN" sz="1300">
                <a:solidFill>
                  <a:schemeClr val="accent3"/>
                </a:solidFill>
              </a:rPr>
              <a:t>ChromaDB</a:t>
            </a:r>
            <a:endParaRPr sz="13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3"/>
                </a:solidFill>
              </a:rPr>
              <a:t>	</a:t>
            </a:r>
            <a:r>
              <a:rPr lang="zh-CN" sz="1100">
                <a:solidFill>
                  <a:schemeClr val="accent3"/>
                </a:solidFill>
              </a:rPr>
              <a:t>– Cheap, light-weight, good for local development, compatible with cloud environment.</a:t>
            </a:r>
            <a:endParaRPr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</a:rPr>
              <a:t>Orchestration:</a:t>
            </a:r>
            <a:r>
              <a:rPr lang="zh-CN" sz="1300">
                <a:solidFill>
                  <a:schemeClr val="accent3"/>
                </a:solidFill>
              </a:rPr>
              <a:t> LangFuse</a:t>
            </a:r>
            <a:endParaRPr sz="13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3"/>
                </a:solidFill>
              </a:rPr>
              <a:t>	</a:t>
            </a:r>
            <a:r>
              <a:rPr lang="zh-CN" sz="1100">
                <a:solidFill>
                  <a:schemeClr val="accent3"/>
                </a:solidFill>
              </a:rPr>
              <a:t>– Transparent tracing.</a:t>
            </a:r>
            <a:endParaRPr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accent3"/>
                </a:solidFill>
              </a:rPr>
              <a:t>Evaluation and Metrics:</a:t>
            </a:r>
            <a:endParaRPr sz="1300">
              <a:solidFill>
                <a:schemeClr val="accent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 sz="1300">
                <a:solidFill>
                  <a:schemeClr val="accent3"/>
                </a:solidFill>
              </a:rPr>
              <a:t>Cost and </a:t>
            </a:r>
            <a:r>
              <a:rPr lang="zh-CN" sz="1300">
                <a:solidFill>
                  <a:schemeClr val="accent3"/>
                </a:solidFill>
              </a:rPr>
              <a:t>T</a:t>
            </a:r>
            <a:r>
              <a:rPr lang="zh-CN" sz="1300">
                <a:solidFill>
                  <a:schemeClr val="accent3"/>
                </a:solidFill>
              </a:rPr>
              <a:t>ime</a:t>
            </a:r>
            <a:endParaRPr sz="1300">
              <a:solidFill>
                <a:schemeClr val="accent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 sz="1300">
                <a:solidFill>
                  <a:schemeClr val="accent3"/>
                </a:solidFill>
              </a:rPr>
              <a:t>ROUGE and Ber</a:t>
            </a:r>
            <a:r>
              <a:rPr lang="zh-CN" sz="1300">
                <a:solidFill>
                  <a:schemeClr val="accent3"/>
                </a:solidFill>
              </a:rPr>
              <a:t>t Score</a:t>
            </a:r>
            <a:endParaRPr sz="1300">
              <a:solidFill>
                <a:schemeClr val="accent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lang="zh-CN" sz="1300">
                <a:solidFill>
                  <a:schemeClr val="accent3"/>
                </a:solidFill>
              </a:rPr>
              <a:t>Customised Metrics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375" name="Google Shape;375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420">
                <a:solidFill>
                  <a:schemeClr val="accent3"/>
                </a:solidFill>
              </a:rPr>
              <a:t>AI workflow design consists of 2 pipelines with prompt engineering and RAG techniques.</a:t>
            </a:r>
            <a:endParaRPr sz="2420">
              <a:solidFill>
                <a:schemeClr val="accent3"/>
              </a:solidFill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4572000" y="1800000"/>
            <a:ext cx="3762300" cy="23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Key features: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streams job advertisement from dataset.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uses control edge to process invalid requests.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uses prompt engineering to reduce hallucination and ensure output format.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builds local log files and datasets to store information.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controls workflow historical records by </a:t>
            </a: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windows</a:t>
            </a: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sliding.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2" name="Google Shape;3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200" y="1800000"/>
            <a:ext cx="2881800" cy="260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420">
                <a:solidFill>
                  <a:schemeClr val="accent3"/>
                </a:solidFill>
              </a:rPr>
              <a:t>The outputs from job advertisement analysis can help with customers with huge flexibility.</a:t>
            </a:r>
            <a:endParaRPr sz="2420">
              <a:solidFill>
                <a:schemeClr val="accent3"/>
              </a:solidFill>
            </a:endParaRPr>
          </a:p>
        </p:txBody>
      </p:sp>
      <p:sp>
        <p:nvSpPr>
          <p:cNvPr id="389" name="Google Shape;389;p26"/>
          <p:cNvSpPr txBox="1"/>
          <p:nvPr/>
        </p:nvSpPr>
        <p:spPr>
          <a:xfrm>
            <a:off x="4572000" y="1839725"/>
            <a:ext cx="37623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Key features: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uses prompt engineering + RAG to reduce hallucination and uses pydantic tool to ensure output format in some specific steps.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builds local logs and datasets to store information.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It uses another LLM based agent to evaluate the retrieving quality.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0" name="Google Shape;3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200" y="1800000"/>
            <a:ext cx="3266724" cy="274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7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Demo and Outputs</a:t>
            </a:r>
            <a:endParaRPr/>
          </a:p>
        </p:txBody>
      </p:sp>
      <p:sp>
        <p:nvSpPr>
          <p:cNvPr id="397" name="Google Shape;397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The sample outputs of both pipeline are as follows.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03" name="Google Shape;403;p28"/>
          <p:cNvSpPr txBox="1"/>
          <p:nvPr/>
        </p:nvSpPr>
        <p:spPr>
          <a:xfrm>
            <a:off x="1267200" y="1800000"/>
            <a:ext cx="7030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Job Advertisement Analysis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Job title, skills, responsibilities, requirements, classification, salary, location, and work type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The evaluation and suggestions of above information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Workflow invoke time and thread id </a:t>
            </a:r>
            <a:r>
              <a:rPr lang="zh-CN" sz="11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– for version management</a:t>
            </a:r>
            <a:endParaRPr sz="11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Client Assistant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User’s question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Final answer</a:t>
            </a:r>
            <a:endParaRPr sz="13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Workflow invoke time and thread id </a:t>
            </a:r>
            <a:r>
              <a:rPr lang="zh-CN" sz="11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– for version management</a:t>
            </a:r>
            <a:endParaRPr sz="11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unito"/>
              <a:buChar char="●"/>
            </a:pPr>
            <a:r>
              <a:rPr lang="zh-CN" sz="13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Retrieving tool calling number and Rewriting user’s question number </a:t>
            </a:r>
            <a:r>
              <a:rPr lang="zh-CN" sz="11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– for customised metric</a:t>
            </a:r>
            <a:endParaRPr sz="11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4" name="Google Shape;404;p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There are 3 groups of metrics to evaluate the AI workflows.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10" name="Google Shape;410;p29"/>
          <p:cNvSpPr txBox="1"/>
          <p:nvPr/>
        </p:nvSpPr>
        <p:spPr>
          <a:xfrm>
            <a:off x="1267200" y="1800000"/>
            <a:ext cx="7030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LangFuse Tracing</a:t>
            </a: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Cost per job advertisement analysis: </a:t>
            </a:r>
            <a:r>
              <a:rPr b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~ 0.03 AUD.</a:t>
            </a:r>
            <a:endParaRPr b="1"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Time consumption per job advertisement analysis: </a:t>
            </a:r>
            <a:r>
              <a:rPr b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~ 12 seconds.</a:t>
            </a:r>
            <a:endParaRPr b="1"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Accuracy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Bert Score for semantic accuracy and meaning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○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how generated analysis is semantically similar to the original one </a:t>
            </a:r>
            <a:r>
              <a:rPr b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0.73 (precision)</a:t>
            </a:r>
            <a:endParaRPr b="1"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○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how original advertisements are captured by generated analysis</a:t>
            </a:r>
            <a:r>
              <a:rPr b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0.59 (recall)</a:t>
            </a:r>
            <a:endParaRPr b="1"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ROUGE for word-Level similarity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○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Combined </a:t>
            </a: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results</a:t>
            </a: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b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0.65 (F1)</a:t>
            </a:r>
            <a:endParaRPr b="1"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Customised Retrieval Quality </a:t>
            </a:r>
            <a:r>
              <a:rPr b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0.50</a:t>
            </a:r>
            <a:endParaRPr b="1"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○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Defined as </a:t>
            </a:r>
            <a:r>
              <a:rPr i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the number of good retrieve calling evaluated by agent  / </a:t>
            </a:r>
            <a:r>
              <a:rPr i="1"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the number of retrieval tool calling</a:t>
            </a:r>
            <a:endParaRPr sz="10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1" name="Google Shape;411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Further Improvements and Plans</a:t>
            </a:r>
            <a:endParaRPr/>
          </a:p>
        </p:txBody>
      </p:sp>
      <p:sp>
        <p:nvSpPr>
          <p:cNvPr id="417" name="Google Shape;417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Considering future scalability, there are some steps we can further explore.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23" name="Google Shape;423;p31"/>
          <p:cNvSpPr txBox="1"/>
          <p:nvPr/>
        </p:nvSpPr>
        <p:spPr>
          <a:xfrm>
            <a:off x="1267200" y="1800000"/>
            <a:ext cx="7030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Classification</a:t>
            </a: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-specific job analysis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Currently the AI workflow relied on LLM’s ability to deal with all job advertisements.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In future, the job advertisements can be divided based on their classification, and the workflow can be horizontally expanded and process different classifications in </a:t>
            </a: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parallel, which can improve the quality and reduct time consumptions.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Language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Currently the assumption is most of the advertisements are English.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In future, with prompt engineering or further agent setting, the workflow can deal with multi-language.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Design and evaluation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Build the golden dataset for validation and testing.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Add refreshment function for vector store with version control.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More user-friendly UI.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4" name="Google Shape;424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Resources</a:t>
            </a:r>
            <a:endParaRPr/>
          </a:p>
        </p:txBody>
      </p:sp>
      <p:sp>
        <p:nvSpPr>
          <p:cNvPr id="430" name="Google Shape;430;p3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</a:rPr>
              <a:t>Useful links are attached.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36" name="Google Shape;436;p33"/>
          <p:cNvSpPr txBox="1"/>
          <p:nvPr/>
        </p:nvSpPr>
        <p:spPr>
          <a:xfrm>
            <a:off x="1303800" y="1800000"/>
            <a:ext cx="703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"/>
              <a:buChar char="●"/>
            </a:pPr>
            <a:r>
              <a:rPr lang="zh-CN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Repository</a:t>
            </a:r>
            <a:r>
              <a:rPr lang="zh-CN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unito"/>
              <a:buChar char="●"/>
            </a:pPr>
            <a:r>
              <a:rPr lang="zh-CN" u="sng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 with Charts </a:t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7" name="Google Shape;437;p3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Thanks a lot for Watching!</a:t>
            </a:r>
            <a:endParaRPr/>
          </a:p>
        </p:txBody>
      </p:sp>
      <p:sp>
        <p:nvSpPr>
          <p:cNvPr id="443" name="Google Shape;443;p3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solidFill>
                  <a:schemeClr val="accent3"/>
                </a:solidFill>
              </a:rPr>
              <a:t>The deck will be shared offline. Please list any questions and concerns in the following part. We will answer them!</a:t>
            </a:r>
            <a:endParaRPr sz="2020">
              <a:solidFill>
                <a:schemeClr val="accent3"/>
              </a:solidFill>
            </a:endParaRPr>
          </a:p>
        </p:txBody>
      </p:sp>
      <p:sp>
        <p:nvSpPr>
          <p:cNvPr id="449" name="Google Shape;449;p35"/>
          <p:cNvSpPr txBox="1"/>
          <p:nvPr/>
        </p:nvSpPr>
        <p:spPr>
          <a:xfrm>
            <a:off x="1303800" y="1835925"/>
            <a:ext cx="70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"/>
              <a:buChar char="●"/>
            </a:pPr>
            <a:r>
              <a:rPr lang="zh-CN" sz="1200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TBC.</a:t>
            </a:r>
            <a:endParaRPr sz="1200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0" name="Google Shape;450;p3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